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5"/>
  </p:notesMasterIdLst>
  <p:sldIdLst>
    <p:sldId id="256" r:id="rId2"/>
    <p:sldId id="258" r:id="rId3"/>
    <p:sldId id="260" r:id="rId4"/>
    <p:sldId id="268" r:id="rId5"/>
    <p:sldId id="259" r:id="rId6"/>
    <p:sldId id="271" r:id="rId7"/>
    <p:sldId id="270" r:id="rId8"/>
    <p:sldId id="269" r:id="rId9"/>
    <p:sldId id="263" r:id="rId10"/>
    <p:sldId id="296" r:id="rId11"/>
    <p:sldId id="298" r:id="rId12"/>
    <p:sldId id="297" r:id="rId13"/>
    <p:sldId id="275" r:id="rId14"/>
  </p:sldIdLst>
  <p:sldSz cx="9144000" cy="5143500" type="screen16x9"/>
  <p:notesSz cx="6858000" cy="9144000"/>
  <p:embeddedFontLst>
    <p:embeddedFont>
      <p:font typeface="Anaheim" pitchFamily="2" charset="0"/>
      <p:regular r:id="rId16"/>
      <p:bold r:id="rId17"/>
    </p:embeddedFon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Medium" pitchFamily="2" charset="0"/>
      <p:regular r:id="rId22"/>
      <p:bold r:id="rId23"/>
      <p:italic r:id="rId24"/>
      <p:boldItalic r:id="rId25"/>
    </p:embeddedFont>
    <p:embeddedFont>
      <p:font typeface="Playfair Display" pitchFamily="2" charset="0"/>
      <p:regular r:id="rId26"/>
      <p:bold r:id="rId27"/>
      <p:italic r:id="rId28"/>
      <p:boldItalic r:id="rId29"/>
    </p:embeddedFont>
    <p:embeddedFont>
      <p:font typeface="Playfair Display Medium"/>
      <p:regular r:id="rId30"/>
      <p:bold r:id="rId31"/>
      <p:italic r:id="rId32"/>
      <p:boldItalic r:id="rId33"/>
    </p:embeddedFont>
    <p:embeddedFont>
      <p:font typeface="Raleway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CBC309-C2F8-4DD7-9136-4B7E14EB452E}">
  <a:tblStyle styleId="{EECBC309-C2F8-4DD7-9136-4B7E14EB45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04564D-5E60-4A61-88FF-075C9E8877A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68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3.fntdata" /><Relationship Id="rId26" Type="http://schemas.openxmlformats.org/officeDocument/2006/relationships/font" Target="fonts/font11.fntdata" /><Relationship Id="rId39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6.fntdata" /><Relationship Id="rId34" Type="http://schemas.openxmlformats.org/officeDocument/2006/relationships/font" Target="fonts/font19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2.fntdata" /><Relationship Id="rId25" Type="http://schemas.openxmlformats.org/officeDocument/2006/relationships/font" Target="fonts/font10.fntdata" /><Relationship Id="rId33" Type="http://schemas.openxmlformats.org/officeDocument/2006/relationships/font" Target="fonts/font18.fntdata" /><Relationship Id="rId38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1.fntdata" /><Relationship Id="rId20" Type="http://schemas.openxmlformats.org/officeDocument/2006/relationships/font" Target="fonts/font5.fntdata" /><Relationship Id="rId29" Type="http://schemas.openxmlformats.org/officeDocument/2006/relationships/font" Target="fonts/font14.fntdata" /><Relationship Id="rId4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9.fntdata" /><Relationship Id="rId32" Type="http://schemas.openxmlformats.org/officeDocument/2006/relationships/font" Target="fonts/font17.fntdata" /><Relationship Id="rId37" Type="http://schemas.openxmlformats.org/officeDocument/2006/relationships/font" Target="fonts/font22.fntdata" /><Relationship Id="rId40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23" Type="http://schemas.openxmlformats.org/officeDocument/2006/relationships/font" Target="fonts/font8.fntdata" /><Relationship Id="rId28" Type="http://schemas.openxmlformats.org/officeDocument/2006/relationships/font" Target="fonts/font13.fntdata" /><Relationship Id="rId36" Type="http://schemas.openxmlformats.org/officeDocument/2006/relationships/font" Target="fonts/font21.fntdata" /><Relationship Id="rId10" Type="http://schemas.openxmlformats.org/officeDocument/2006/relationships/slide" Target="slides/slide9.xml" /><Relationship Id="rId19" Type="http://schemas.openxmlformats.org/officeDocument/2006/relationships/font" Target="fonts/font4.fntdata" /><Relationship Id="rId31" Type="http://schemas.openxmlformats.org/officeDocument/2006/relationships/font" Target="fonts/font16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7.fntdata" /><Relationship Id="rId27" Type="http://schemas.openxmlformats.org/officeDocument/2006/relationships/font" Target="fonts/font12.fntdata" /><Relationship Id="rId30" Type="http://schemas.openxmlformats.org/officeDocument/2006/relationships/font" Target="fonts/font15.fntdata" /><Relationship Id="rId35" Type="http://schemas.openxmlformats.org/officeDocument/2006/relationships/font" Target="fonts/font20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62641760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626417603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077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758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 /><Relationship Id="rId2" Type="http://schemas.openxmlformats.org/officeDocument/2006/relationships/hyperlink" Target="https://bit.ly/3A1uf1Q" TargetMode="External" /><Relationship Id="rId1" Type="http://schemas.openxmlformats.org/officeDocument/2006/relationships/slideMaster" Target="../slideMasters/slideMaster1.xml" /><Relationship Id="rId4" Type="http://schemas.openxmlformats.org/officeDocument/2006/relationships/hyperlink" Target="http://bit.ly/2TtBDfr" TargetMode="Externa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560825"/>
            <a:ext cx="4595700" cy="18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75" y="1007350"/>
            <a:ext cx="22089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4299414" y="2860575"/>
            <a:ext cx="2695800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713225" y="2860581"/>
            <a:ext cx="2695800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713237" y="2123225"/>
            <a:ext cx="26958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4299412" y="2123225"/>
            <a:ext cx="26958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4" name="Google Shape;34;p6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35;p6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13225" y="734725"/>
            <a:ext cx="3737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713225" y="1878000"/>
            <a:ext cx="4337400" cy="25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5806850" y="658413"/>
            <a:ext cx="2623800" cy="3826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0" name="Google Shape;40;p7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7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4" name="Google Shape;44;p8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8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9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713225" y="3408625"/>
            <a:ext cx="2466300" cy="8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713225" y="2622925"/>
            <a:ext cx="24663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7" name="Google Shape;57;p11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11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648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3760200" y="26483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3247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 hasCustomPrompt="1"/>
          </p:nvPr>
        </p:nvSpPr>
        <p:spPr>
          <a:xfrm>
            <a:off x="3760200" y="32474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8465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3760200" y="38465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1454700" y="264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8"/>
          </p:nvPr>
        </p:nvSpPr>
        <p:spPr>
          <a:xfrm>
            <a:off x="1454700" y="32474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1454700" y="38465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4494900" y="264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4494900" y="32474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5"/>
          </p:nvPr>
        </p:nvSpPr>
        <p:spPr>
          <a:xfrm>
            <a:off x="4494900" y="38465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74" name="Google Shape;74;p13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3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713225" y="3147477"/>
            <a:ext cx="2106900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2"/>
          </p:nvPr>
        </p:nvSpPr>
        <p:spPr>
          <a:xfrm>
            <a:off x="3074432" y="3147477"/>
            <a:ext cx="2106900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3"/>
          </p:nvPr>
        </p:nvSpPr>
        <p:spPr>
          <a:xfrm>
            <a:off x="5435639" y="3147479"/>
            <a:ext cx="2106900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4"/>
          </p:nvPr>
        </p:nvSpPr>
        <p:spPr>
          <a:xfrm>
            <a:off x="713225" y="2494475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5"/>
          </p:nvPr>
        </p:nvSpPr>
        <p:spPr>
          <a:xfrm>
            <a:off x="3074433" y="2494475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6"/>
          </p:nvPr>
        </p:nvSpPr>
        <p:spPr>
          <a:xfrm>
            <a:off x="5435634" y="2494475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22" name="Google Shape;122;p21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21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"/>
          </p:nvPr>
        </p:nvSpPr>
        <p:spPr>
          <a:xfrm>
            <a:off x="720000" y="1945660"/>
            <a:ext cx="28110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2"/>
          </p:nvPr>
        </p:nvSpPr>
        <p:spPr>
          <a:xfrm>
            <a:off x="4546553" y="1945654"/>
            <a:ext cx="29046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3"/>
          </p:nvPr>
        </p:nvSpPr>
        <p:spPr>
          <a:xfrm>
            <a:off x="720000" y="3515588"/>
            <a:ext cx="28110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4"/>
          </p:nvPr>
        </p:nvSpPr>
        <p:spPr>
          <a:xfrm>
            <a:off x="4546551" y="3515588"/>
            <a:ext cx="29046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5"/>
          </p:nvPr>
        </p:nvSpPr>
        <p:spPr>
          <a:xfrm>
            <a:off x="719999" y="1666404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6"/>
          </p:nvPr>
        </p:nvSpPr>
        <p:spPr>
          <a:xfrm>
            <a:off x="719999" y="3236407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7"/>
          </p:nvPr>
        </p:nvSpPr>
        <p:spPr>
          <a:xfrm>
            <a:off x="4546525" y="1666400"/>
            <a:ext cx="2904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8"/>
          </p:nvPr>
        </p:nvSpPr>
        <p:spPr>
          <a:xfrm>
            <a:off x="4546525" y="3236407"/>
            <a:ext cx="2904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34" name="Google Shape;134;p22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22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1"/>
          </p:nvPr>
        </p:nvSpPr>
        <p:spPr>
          <a:xfrm>
            <a:off x="720025" y="1867400"/>
            <a:ext cx="2469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2"/>
          </p:nvPr>
        </p:nvSpPr>
        <p:spPr>
          <a:xfrm>
            <a:off x="3282145" y="1867410"/>
            <a:ext cx="25797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3"/>
          </p:nvPr>
        </p:nvSpPr>
        <p:spPr>
          <a:xfrm>
            <a:off x="720025" y="3544702"/>
            <a:ext cx="2469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4"/>
          </p:nvPr>
        </p:nvSpPr>
        <p:spPr>
          <a:xfrm>
            <a:off x="3282155" y="3544703"/>
            <a:ext cx="25797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5"/>
          </p:nvPr>
        </p:nvSpPr>
        <p:spPr>
          <a:xfrm>
            <a:off x="5954680" y="1867406"/>
            <a:ext cx="2469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6"/>
          </p:nvPr>
        </p:nvSpPr>
        <p:spPr>
          <a:xfrm>
            <a:off x="5954699" y="3544702"/>
            <a:ext cx="2469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7"/>
          </p:nvPr>
        </p:nvSpPr>
        <p:spPr>
          <a:xfrm>
            <a:off x="720025" y="1305419"/>
            <a:ext cx="2469300" cy="6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8"/>
          </p:nvPr>
        </p:nvSpPr>
        <p:spPr>
          <a:xfrm>
            <a:off x="3282145" y="1305419"/>
            <a:ext cx="2577300" cy="6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9"/>
          </p:nvPr>
        </p:nvSpPr>
        <p:spPr>
          <a:xfrm>
            <a:off x="5954680" y="1305419"/>
            <a:ext cx="2466900" cy="6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13"/>
          </p:nvPr>
        </p:nvSpPr>
        <p:spPr>
          <a:xfrm>
            <a:off x="720025" y="2985210"/>
            <a:ext cx="2469300" cy="6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ubTitle" idx="14"/>
          </p:nvPr>
        </p:nvSpPr>
        <p:spPr>
          <a:xfrm>
            <a:off x="3282145" y="2985206"/>
            <a:ext cx="2577300" cy="6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5"/>
          </p:nvPr>
        </p:nvSpPr>
        <p:spPr>
          <a:xfrm>
            <a:off x="5954680" y="2985200"/>
            <a:ext cx="2469300" cy="6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50" name="Google Shape;150;p23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734825" y="2908025"/>
            <a:ext cx="3108300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1"/>
          </p:nvPr>
        </p:nvSpPr>
        <p:spPr>
          <a:xfrm>
            <a:off x="734825" y="3543900"/>
            <a:ext cx="3108300" cy="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155" name="Google Shape;155;p24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24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24"/>
          <p:cNvSpPr txBox="1"/>
          <p:nvPr/>
        </p:nvSpPr>
        <p:spPr>
          <a:xfrm>
            <a:off x="4050875" y="3730325"/>
            <a:ext cx="42540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5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25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6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6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 Medium"/>
              <a:buNone/>
              <a:defRPr sz="28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9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0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ctrTitle"/>
          </p:nvPr>
        </p:nvSpPr>
        <p:spPr>
          <a:xfrm>
            <a:off x="713224" y="2560825"/>
            <a:ext cx="6576575" cy="18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 dirty="0"/>
              <a:t>Implementasi Kebijakan Program  Integrasi Pembebasan Bersyarat di Lembaga Pemasyarakatan Kelas IIA </a:t>
            </a:r>
            <a:r>
              <a:rPr lang="id-ID" sz="2000" dirty="0" err="1"/>
              <a:t>Banceuy</a:t>
            </a:r>
            <a:r>
              <a:rPr lang="id-ID" sz="2000" dirty="0"/>
              <a:t> Bandung</a:t>
            </a:r>
            <a:endParaRPr sz="2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713275" y="1007350"/>
            <a:ext cx="22089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r>
              <a:rPr lang="id-ID" dirty="0" err="1"/>
              <a:t>ngga</a:t>
            </a:r>
            <a:r>
              <a:rPr lang="id-ID" dirty="0"/>
              <a:t> Prasetyo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NPM. </a:t>
            </a:r>
            <a:r>
              <a:rPr lang="id-ID" dirty="0"/>
              <a:t>41153015220078</a:t>
            </a:r>
            <a:endParaRPr dirty="0"/>
          </a:p>
        </p:txBody>
      </p:sp>
      <p:sp>
        <p:nvSpPr>
          <p:cNvPr id="176" name="Google Shape;176;p30"/>
          <p:cNvSpPr txBox="1"/>
          <p:nvPr/>
        </p:nvSpPr>
        <p:spPr>
          <a:xfrm>
            <a:off x="734824" y="367750"/>
            <a:ext cx="2440175" cy="32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Ilmu Pemerintahan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Fakultas Ilmu Sosial dan Ilmu Politik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Universitas Langlangbuana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Pemaparan</a:t>
            </a:r>
            <a:endParaRPr dirty="0"/>
          </a:p>
        </p:txBody>
      </p:sp>
      <p:sp>
        <p:nvSpPr>
          <p:cNvPr id="191" name="Google Shape;191;p32"/>
          <p:cNvSpPr txBox="1">
            <a:spLocks noGrp="1"/>
          </p:cNvSpPr>
          <p:nvPr>
            <p:ph type="title" idx="2"/>
          </p:nvPr>
        </p:nvSpPr>
        <p:spPr>
          <a:xfrm>
            <a:off x="720000" y="26484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o1</a:t>
            </a:r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title" idx="3"/>
          </p:nvPr>
        </p:nvSpPr>
        <p:spPr>
          <a:xfrm>
            <a:off x="3987800" y="26483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93" name="Google Shape;193;p32"/>
          <p:cNvSpPr txBox="1">
            <a:spLocks noGrp="1"/>
          </p:cNvSpPr>
          <p:nvPr>
            <p:ph type="title" idx="4"/>
          </p:nvPr>
        </p:nvSpPr>
        <p:spPr>
          <a:xfrm>
            <a:off x="720000" y="32474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4" name="Google Shape;194;p32"/>
          <p:cNvSpPr txBox="1">
            <a:spLocks noGrp="1"/>
          </p:cNvSpPr>
          <p:nvPr>
            <p:ph type="title" idx="5"/>
          </p:nvPr>
        </p:nvSpPr>
        <p:spPr>
          <a:xfrm>
            <a:off x="3987800" y="324746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95" name="Google Shape;195;p32"/>
          <p:cNvSpPr txBox="1">
            <a:spLocks noGrp="1"/>
          </p:cNvSpPr>
          <p:nvPr>
            <p:ph type="title" idx="6"/>
          </p:nvPr>
        </p:nvSpPr>
        <p:spPr>
          <a:xfrm>
            <a:off x="720000" y="384655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6" name="Google Shape;196;p32"/>
          <p:cNvSpPr txBox="1">
            <a:spLocks noGrp="1"/>
          </p:cNvSpPr>
          <p:nvPr>
            <p:ph type="title" idx="7"/>
          </p:nvPr>
        </p:nvSpPr>
        <p:spPr>
          <a:xfrm>
            <a:off x="3987800" y="384653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97" name="Google Shape;197;p32"/>
          <p:cNvSpPr txBox="1">
            <a:spLocks noGrp="1"/>
          </p:cNvSpPr>
          <p:nvPr>
            <p:ph type="subTitle" idx="1"/>
          </p:nvPr>
        </p:nvSpPr>
        <p:spPr>
          <a:xfrm>
            <a:off x="1454700" y="264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198" name="Google Shape;198;p32"/>
          <p:cNvSpPr txBox="1">
            <a:spLocks noGrp="1"/>
          </p:cNvSpPr>
          <p:nvPr>
            <p:ph type="subTitle" idx="8"/>
          </p:nvPr>
        </p:nvSpPr>
        <p:spPr>
          <a:xfrm>
            <a:off x="1454700" y="32474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Grand </a:t>
            </a:r>
            <a:r>
              <a:rPr lang="en" dirty="0"/>
              <a:t>Theory</a:t>
            </a:r>
            <a:endParaRPr dirty="0"/>
          </a:p>
        </p:txBody>
      </p:sp>
      <p:sp>
        <p:nvSpPr>
          <p:cNvPr id="199" name="Google Shape;199;p32"/>
          <p:cNvSpPr txBox="1">
            <a:spLocks noGrp="1"/>
          </p:cNvSpPr>
          <p:nvPr>
            <p:ph type="subTitle" idx="9"/>
          </p:nvPr>
        </p:nvSpPr>
        <p:spPr>
          <a:xfrm>
            <a:off x="1454700" y="3846550"/>
            <a:ext cx="2533100" cy="4475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Kerangka Pemikiran</a:t>
            </a:r>
            <a:endParaRPr dirty="0"/>
          </a:p>
        </p:txBody>
      </p:sp>
      <p:sp>
        <p:nvSpPr>
          <p:cNvPr id="200" name="Google Shape;200;p32"/>
          <p:cNvSpPr txBox="1">
            <a:spLocks noGrp="1"/>
          </p:cNvSpPr>
          <p:nvPr>
            <p:ph type="subTitle" idx="13"/>
          </p:nvPr>
        </p:nvSpPr>
        <p:spPr>
          <a:xfrm>
            <a:off x="4730300" y="2648391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Metode Penelitian</a:t>
            </a:r>
            <a:endParaRPr dirty="0"/>
          </a:p>
        </p:txBody>
      </p:sp>
      <p:sp>
        <p:nvSpPr>
          <p:cNvPr id="201" name="Google Shape;201;p32"/>
          <p:cNvSpPr txBox="1">
            <a:spLocks noGrp="1"/>
          </p:cNvSpPr>
          <p:nvPr>
            <p:ph type="subTitle" idx="14"/>
          </p:nvPr>
        </p:nvSpPr>
        <p:spPr>
          <a:xfrm>
            <a:off x="4722500" y="3247466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Hasil Penelitian</a:t>
            </a:r>
            <a:endParaRPr dirty="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5"/>
          </p:nvPr>
        </p:nvSpPr>
        <p:spPr>
          <a:xfrm>
            <a:off x="4722500" y="3848082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Kesimpulan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i="1" dirty="0"/>
          </a:p>
        </p:txBody>
      </p:sp>
      <p:sp>
        <p:nvSpPr>
          <p:cNvPr id="215" name="Google Shape;215;p34"/>
          <p:cNvSpPr txBox="1">
            <a:spLocks noGrp="1"/>
          </p:cNvSpPr>
          <p:nvPr>
            <p:ph type="subTitle" idx="4"/>
          </p:nvPr>
        </p:nvSpPr>
        <p:spPr>
          <a:xfrm>
            <a:off x="420855" y="2494475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Wewenang Pemerintah</a:t>
            </a:r>
            <a:endParaRPr dirty="0"/>
          </a:p>
        </p:txBody>
      </p:sp>
      <p:sp>
        <p:nvSpPr>
          <p:cNvPr id="216" name="Google Shape;216;p34"/>
          <p:cNvSpPr txBox="1">
            <a:spLocks noGrp="1"/>
          </p:cNvSpPr>
          <p:nvPr>
            <p:ph type="subTitle" idx="5"/>
          </p:nvPr>
        </p:nvSpPr>
        <p:spPr>
          <a:xfrm>
            <a:off x="3028255" y="2494475"/>
            <a:ext cx="2361196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Kebijakan Pembebasan Bersyarat</a:t>
            </a:r>
            <a:endParaRPr dirty="0"/>
          </a:p>
        </p:txBody>
      </p:sp>
      <p:sp>
        <p:nvSpPr>
          <p:cNvPr id="217" name="Google Shape;217;p34"/>
          <p:cNvSpPr txBox="1">
            <a:spLocks noGrp="1"/>
          </p:cNvSpPr>
          <p:nvPr>
            <p:ph type="subTitle" idx="1"/>
          </p:nvPr>
        </p:nvSpPr>
        <p:spPr>
          <a:xfrm>
            <a:off x="420860" y="3147477"/>
            <a:ext cx="2361201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Memiliki kekuasaan untuk membuat dan menerapkan kebijakan serta undang-undang melalui lembaga legislatif, eksekutif, dan yudikatif, baik di tingkat nasional, regional, maupun lokal.</a:t>
            </a:r>
            <a:endParaRPr dirty="0"/>
          </a:p>
        </p:txBody>
      </p:sp>
      <p:sp>
        <p:nvSpPr>
          <p:cNvPr id="218" name="Google Shape;218;p34"/>
          <p:cNvSpPr txBox="1">
            <a:spLocks noGrp="1"/>
          </p:cNvSpPr>
          <p:nvPr>
            <p:ph type="subTitle" idx="2"/>
          </p:nvPr>
        </p:nvSpPr>
        <p:spPr>
          <a:xfrm>
            <a:off x="2985833" y="3147477"/>
            <a:ext cx="2742168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Peraturan Menteri Hukum dan HAM No. 03 Tahun 2018 dan No. 07 Tahun 2022 mengatur hak narapidana untuk remisi, asimilasi, cuti, dan pembebasan bersyarat, dengan syarat menjalani 9 bulan pidana, berkelakuan baik, dan mengikuti program pembinaan</a:t>
            </a:r>
            <a:endParaRPr lang="en" dirty="0"/>
          </a:p>
        </p:txBody>
      </p:sp>
      <p:sp>
        <p:nvSpPr>
          <p:cNvPr id="219" name="Google Shape;219;p34"/>
          <p:cNvSpPr txBox="1">
            <a:spLocks noGrp="1"/>
          </p:cNvSpPr>
          <p:nvPr>
            <p:ph type="subTitle" idx="3"/>
          </p:nvPr>
        </p:nvSpPr>
        <p:spPr>
          <a:xfrm>
            <a:off x="5816600" y="2867225"/>
            <a:ext cx="2742168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id-ID" dirty="0"/>
              <a:t>Adanya </a:t>
            </a:r>
            <a:r>
              <a:rPr lang="id-ID" dirty="0" err="1"/>
              <a:t>asimetri</a:t>
            </a:r>
            <a:r>
              <a:rPr lang="id-ID" dirty="0"/>
              <a:t> informasi antara petugas dan warga binaan.  
SDM petugas </a:t>
            </a:r>
            <a:r>
              <a:rPr lang="id-ID" dirty="0" err="1"/>
              <a:t>Lapas</a:t>
            </a:r>
            <a:r>
              <a:rPr lang="id-ID" dirty="0"/>
              <a:t> belum memadai.  
Keterbatasan anggaran program pembebasan bersyarat.  
Kurangnya koordinasi antar lembaga pemasyarakatan  dan aparat penegak hukum.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id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id-ID" dirty="0"/>
          </a:p>
        </p:txBody>
      </p:sp>
      <p:sp>
        <p:nvSpPr>
          <p:cNvPr id="220" name="Google Shape;220;p34"/>
          <p:cNvSpPr txBox="1">
            <a:spLocks noGrp="1"/>
          </p:cNvSpPr>
          <p:nvPr>
            <p:ph type="subTitle" idx="6"/>
          </p:nvPr>
        </p:nvSpPr>
        <p:spPr>
          <a:xfrm>
            <a:off x="5889951" y="2199000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Fenomena Masalah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>
            <a:spLocks noGrp="1"/>
          </p:cNvSpPr>
          <p:nvPr>
            <p:ph type="subTitle" idx="6"/>
          </p:nvPr>
        </p:nvSpPr>
        <p:spPr>
          <a:xfrm>
            <a:off x="719999" y="2848853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r>
              <a:rPr lang="id-ID" dirty="0"/>
              <a:t>. Komunikasi</a:t>
            </a:r>
            <a:endParaRPr dirty="0"/>
          </a:p>
        </p:txBody>
      </p:sp>
      <p:sp>
        <p:nvSpPr>
          <p:cNvPr id="310" name="Google Shape;310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Teori</a:t>
            </a:r>
            <a:r>
              <a:rPr lang="en" dirty="0"/>
              <a:t> </a:t>
            </a:r>
            <a:r>
              <a:rPr lang="id-ID" dirty="0"/>
              <a:t>Implementasi Kebijakan oleh C Edward III dalam Widodo </a:t>
            </a:r>
            <a:r>
              <a:rPr lang="en" dirty="0"/>
              <a:t>(</a:t>
            </a:r>
            <a:r>
              <a:rPr lang="id-ID" dirty="0"/>
              <a:t> 2010: 96-104</a:t>
            </a:r>
            <a:r>
              <a:rPr lang="en" dirty="0"/>
              <a:t>)</a:t>
            </a:r>
            <a:endParaRPr dirty="0"/>
          </a:p>
        </p:txBody>
      </p:sp>
      <p:sp>
        <p:nvSpPr>
          <p:cNvPr id="311" name="Google Shape;311;p42"/>
          <p:cNvSpPr txBox="1">
            <a:spLocks noGrp="1"/>
          </p:cNvSpPr>
          <p:nvPr>
            <p:ph type="subTitle" idx="1"/>
          </p:nvPr>
        </p:nvSpPr>
        <p:spPr>
          <a:xfrm>
            <a:off x="719999" y="1760453"/>
            <a:ext cx="3600268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Teori Implementasi kebijakan adalah parameter untuk mengevaluasi efektivitas penerapan kebijakan pemerintah mengacu pada faktor utama komunikasi, sumber daya, disposisi, dan struktur birokrasi.</a:t>
            </a:r>
            <a:endParaRPr dirty="0"/>
          </a:p>
        </p:txBody>
      </p:sp>
      <p:sp>
        <p:nvSpPr>
          <p:cNvPr id="312" name="Google Shape;312;p42"/>
          <p:cNvSpPr txBox="1">
            <a:spLocks noGrp="1"/>
          </p:cNvSpPr>
          <p:nvPr>
            <p:ph type="subTitle" idx="2"/>
          </p:nvPr>
        </p:nvSpPr>
        <p:spPr>
          <a:xfrm>
            <a:off x="719999" y="4098647"/>
            <a:ext cx="3600268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Ketersediannya</a:t>
            </a:r>
            <a:r>
              <a:rPr lang="id-ID" dirty="0"/>
              <a:t> sumber daya berperan penting dalam keberhasilan pelaksanaan kebijakan yang melibatkan sumber daya anggaran, peralatan, dan kewenangan.</a:t>
            </a:r>
            <a:endParaRPr dirty="0"/>
          </a:p>
        </p:txBody>
      </p:sp>
      <p:sp>
        <p:nvSpPr>
          <p:cNvPr id="313" name="Google Shape;313;p42"/>
          <p:cNvSpPr txBox="1">
            <a:spLocks noGrp="1"/>
          </p:cNvSpPr>
          <p:nvPr>
            <p:ph type="subTitle" idx="3"/>
          </p:nvPr>
        </p:nvSpPr>
        <p:spPr>
          <a:xfrm>
            <a:off x="746774" y="3026398"/>
            <a:ext cx="3724925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Adanya penyampaian informasi komunikator kepada Komunikasi mencakup dimensi transmisi, kejelasan, dan konsistensi demi tercapainya tujuan dan sasaran kebijakan.</a:t>
            </a:r>
            <a:endParaRPr dirty="0"/>
          </a:p>
        </p:txBody>
      </p:sp>
      <p:sp>
        <p:nvSpPr>
          <p:cNvPr id="314" name="Google Shape;314;p42"/>
          <p:cNvSpPr txBox="1">
            <a:spLocks noGrp="1"/>
          </p:cNvSpPr>
          <p:nvPr>
            <p:ph type="subTitle" idx="4"/>
          </p:nvPr>
        </p:nvSpPr>
        <p:spPr>
          <a:xfrm>
            <a:off x="4597449" y="2137553"/>
            <a:ext cx="3600268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Komitmen pemangku kebijakan dalam menerapkan kebijakan turut menentukan hambatan-hambatan jika personel yang ada tidak bertanggung jawab</a:t>
            </a:r>
            <a:endParaRPr dirty="0"/>
          </a:p>
        </p:txBody>
      </p:sp>
      <p:sp>
        <p:nvSpPr>
          <p:cNvPr id="316" name="Google Shape;316;p42"/>
          <p:cNvSpPr txBox="1">
            <a:spLocks noGrp="1"/>
          </p:cNvSpPr>
          <p:nvPr>
            <p:ph type="subTitle" idx="7"/>
          </p:nvPr>
        </p:nvSpPr>
        <p:spPr>
          <a:xfrm>
            <a:off x="719999" y="3898784"/>
            <a:ext cx="3263975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</a:t>
            </a:r>
            <a:r>
              <a:rPr lang="id-ID" dirty="0"/>
              <a:t>Sumber daya</a:t>
            </a:r>
            <a:endParaRPr dirty="0"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8"/>
          </p:nvPr>
        </p:nvSpPr>
        <p:spPr>
          <a:xfrm>
            <a:off x="4597449" y="1833511"/>
            <a:ext cx="2904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</a:t>
            </a:r>
            <a:r>
              <a:rPr lang="id-ID" dirty="0"/>
              <a:t>Disposisi/sikap</a:t>
            </a:r>
            <a:endParaRPr dirty="0"/>
          </a:p>
        </p:txBody>
      </p:sp>
      <p:sp>
        <p:nvSpPr>
          <p:cNvPr id="3" name="Google Shape;314;p42">
            <a:extLst>
              <a:ext uri="{FF2B5EF4-FFF2-40B4-BE49-F238E27FC236}">
                <a16:creationId xmlns:a16="http://schemas.microsoft.com/office/drawing/2014/main" id="{BAD9A409-7103-4D9E-5C14-4E4D6BE29F2C}"/>
              </a:ext>
            </a:extLst>
          </p:cNvPr>
          <p:cNvSpPr txBox="1">
            <a:spLocks/>
          </p:cNvSpPr>
          <p:nvPr/>
        </p:nvSpPr>
        <p:spPr>
          <a:xfrm>
            <a:off x="4572000" y="3456937"/>
            <a:ext cx="3825226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d-ID" dirty="0"/>
              <a:t>Badan yang menjadi pelaksana kebijakan dihadapkan hambatan fungsionalitas oleh faktor internal berupa standar operasional dan faktor eksternal birokrasi, </a:t>
            </a:r>
            <a:r>
              <a:rPr lang="id-ID" dirty="0" err="1"/>
              <a:t>interest</a:t>
            </a:r>
            <a:r>
              <a:rPr lang="id-ID" dirty="0"/>
              <a:t> </a:t>
            </a:r>
            <a:r>
              <a:rPr lang="id-ID" dirty="0" err="1"/>
              <a:t>group</a:t>
            </a:r>
            <a:r>
              <a:rPr lang="id-ID" dirty="0"/>
              <a:t>, pejabat-pejabat eksekutif dan faktor eksternal</a:t>
            </a:r>
          </a:p>
        </p:txBody>
      </p:sp>
      <p:sp>
        <p:nvSpPr>
          <p:cNvPr id="5" name="Google Shape;317;p42">
            <a:extLst>
              <a:ext uri="{FF2B5EF4-FFF2-40B4-BE49-F238E27FC236}">
                <a16:creationId xmlns:a16="http://schemas.microsoft.com/office/drawing/2014/main" id="{1504BED5-6BEE-A46A-847D-4D45288D30E6}"/>
              </a:ext>
            </a:extLst>
          </p:cNvPr>
          <p:cNvSpPr txBox="1">
            <a:spLocks/>
          </p:cNvSpPr>
          <p:nvPr/>
        </p:nvSpPr>
        <p:spPr>
          <a:xfrm>
            <a:off x="4546524" y="3152895"/>
            <a:ext cx="2904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d-ID" dirty="0"/>
              <a:t>4. Struktur Birokrasi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705862" y="537242"/>
            <a:ext cx="7046475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Kerangka Pemikiran dan Batasan Konsep</a:t>
            </a:r>
            <a:endParaRPr i="1" dirty="0"/>
          </a:p>
        </p:txBody>
      </p:sp>
      <p:sp>
        <p:nvSpPr>
          <p:cNvPr id="208" name="Google Shape;208;p33"/>
          <p:cNvSpPr txBox="1">
            <a:spLocks noGrp="1"/>
          </p:cNvSpPr>
          <p:nvPr>
            <p:ph type="subTitle" idx="1"/>
          </p:nvPr>
        </p:nvSpPr>
        <p:spPr>
          <a:xfrm>
            <a:off x="705862" y="1395400"/>
            <a:ext cx="7732276" cy="25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Penelitian ini menguraikan tentang proposisi, kerangka pemikiran hingga batasan konsep</a:t>
            </a:r>
            <a:endParaRPr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b="1" dirty="0"/>
              <a:t>Batasan Konsep</a:t>
            </a:r>
            <a:r>
              <a:rPr lang="en" dirty="0"/>
              <a:t>:  </a:t>
            </a:r>
            <a:r>
              <a:rPr lang="id-ID" dirty="0"/>
              <a:t>Pembentukan kebijakan integrasi pemberian bebas bersyarat, Peraturan Menteri Hukum dan HAM No. 03 Tahun 2018 sebagaimana Peraturan </a:t>
            </a:r>
            <a:r>
              <a:rPr lang="id-ID" dirty="0" err="1"/>
              <a:t>Mentri</a:t>
            </a:r>
            <a:r>
              <a:rPr lang="id-ID" dirty="0"/>
              <a:t> No. 07. Tahun 2022, penerapan kebijakan oleh pemerintah maupun swasta</a:t>
            </a:r>
            <a:endParaRPr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b="1" dirty="0"/>
              <a:t>Proposisi</a:t>
            </a:r>
            <a:r>
              <a:rPr lang="en" dirty="0"/>
              <a:t>: </a:t>
            </a:r>
            <a:r>
              <a:rPr lang="id-ID" dirty="0"/>
              <a:t>Implementasi Kebijakan Program Integrasi Pemberian Bebas Bersyarat di Lembaga Pemasyarakatan Kelas IIA </a:t>
            </a:r>
            <a:r>
              <a:rPr lang="id-ID" dirty="0" err="1"/>
              <a:t>Banceuy</a:t>
            </a:r>
            <a:r>
              <a:rPr lang="id-ID" dirty="0"/>
              <a:t> Bandung akan berjalan dengan baik apabila memperhatikan faktor-faktor Komunikasi, </a:t>
            </a:r>
            <a:r>
              <a:rPr lang="id-ID" dirty="0" err="1"/>
              <a:t>Sumberdaya</a:t>
            </a:r>
            <a:r>
              <a:rPr lang="id-ID" dirty="0"/>
              <a:t>, Disposisi dan Struktur Birokrasi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CCB54-27DC-4A21-AFB8-018413B1E2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793" y="3019928"/>
            <a:ext cx="4205214" cy="1984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Metode Penelitian</a:t>
            </a:r>
            <a:endParaRPr dirty="0"/>
          </a:p>
        </p:txBody>
      </p:sp>
      <p:sp>
        <p:nvSpPr>
          <p:cNvPr id="348" name="Google Shape;348;p45"/>
          <p:cNvSpPr/>
          <p:nvPr/>
        </p:nvSpPr>
        <p:spPr>
          <a:xfrm>
            <a:off x="719988" y="1389729"/>
            <a:ext cx="183300" cy="18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5"/>
          <p:cNvSpPr/>
          <p:nvPr/>
        </p:nvSpPr>
        <p:spPr>
          <a:xfrm>
            <a:off x="753909" y="2943439"/>
            <a:ext cx="183300" cy="18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45"/>
          <p:cNvSpPr/>
          <p:nvPr/>
        </p:nvSpPr>
        <p:spPr>
          <a:xfrm>
            <a:off x="5259411" y="2911308"/>
            <a:ext cx="183300" cy="1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1" name="Google Shape;351;p45"/>
          <p:cNvSpPr/>
          <p:nvPr/>
        </p:nvSpPr>
        <p:spPr>
          <a:xfrm>
            <a:off x="5259411" y="1345413"/>
            <a:ext cx="183300" cy="18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5"/>
          <p:cNvSpPr txBox="1"/>
          <p:nvPr/>
        </p:nvSpPr>
        <p:spPr>
          <a:xfrm>
            <a:off x="5538092" y="2767939"/>
            <a:ext cx="2110225" cy="4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Dokumentasi</a:t>
            </a:r>
            <a:endParaRPr sz="2000" dirty="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54" name="Google Shape;354;p45"/>
          <p:cNvSpPr txBox="1"/>
          <p:nvPr/>
        </p:nvSpPr>
        <p:spPr>
          <a:xfrm>
            <a:off x="5501318" y="3086361"/>
            <a:ext cx="2888773" cy="3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Pengumpulan data tentang peristiwa di lapangan berupa dokumen yang kredibel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45"/>
          <p:cNvSpPr txBox="1"/>
          <p:nvPr/>
        </p:nvSpPr>
        <p:spPr>
          <a:xfrm>
            <a:off x="5511865" y="1337306"/>
            <a:ext cx="2162681" cy="348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Observasi</a:t>
            </a:r>
            <a:endParaRPr sz="2000" dirty="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56" name="Google Shape;356;p45"/>
          <p:cNvSpPr txBox="1"/>
          <p:nvPr/>
        </p:nvSpPr>
        <p:spPr>
          <a:xfrm>
            <a:off x="5535226" y="1587972"/>
            <a:ext cx="2888774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Mengamati secara langsung mekanisme </a:t>
            </a:r>
            <a:r>
              <a:rPr lang="id-ID" sz="12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penyeleggaraan</a:t>
            </a:r>
            <a:r>
              <a:rPr lang="id-ID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Program Pembebasan Bersyarat Di Lembaga Pemasyarakatan Kelas II A </a:t>
            </a:r>
            <a:r>
              <a:rPr lang="id-ID" sz="12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Banceuy</a:t>
            </a:r>
            <a:r>
              <a:rPr lang="id-ID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Bandung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7" name="Google Shape;357;p45"/>
          <p:cNvSpPr txBox="1"/>
          <p:nvPr/>
        </p:nvSpPr>
        <p:spPr>
          <a:xfrm>
            <a:off x="1047971" y="2911308"/>
            <a:ext cx="2052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Studi Literatur</a:t>
            </a:r>
            <a:endParaRPr sz="2000" dirty="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58" name="Google Shape;358;p45"/>
          <p:cNvSpPr txBox="1"/>
          <p:nvPr/>
        </p:nvSpPr>
        <p:spPr>
          <a:xfrm>
            <a:off x="1047971" y="3211574"/>
            <a:ext cx="2888775" cy="343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sekunder yang dikumpulkan berasal dari buku, jurnal, artikel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p45"/>
          <p:cNvSpPr txBox="1"/>
          <p:nvPr/>
        </p:nvSpPr>
        <p:spPr>
          <a:xfrm>
            <a:off x="997425" y="1345413"/>
            <a:ext cx="2052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Wawancara</a:t>
            </a:r>
            <a:endParaRPr sz="2000" dirty="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60" name="Google Shape;360;p45"/>
          <p:cNvSpPr txBox="1"/>
          <p:nvPr/>
        </p:nvSpPr>
        <p:spPr>
          <a:xfrm>
            <a:off x="997425" y="1572096"/>
            <a:ext cx="3251337" cy="3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Pengumpulan data dilakukan dengan menggali informasi secara langsung kepada informan terkait 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>
            <a:spLocks noGrp="1"/>
          </p:cNvSpPr>
          <p:nvPr>
            <p:ph type="title"/>
          </p:nvPr>
        </p:nvSpPr>
        <p:spPr>
          <a:xfrm>
            <a:off x="713224" y="3408625"/>
            <a:ext cx="6195575" cy="8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Hasil Penelitian</a:t>
            </a:r>
            <a:endParaRPr dirty="0"/>
          </a:p>
        </p:txBody>
      </p:sp>
      <p:sp>
        <p:nvSpPr>
          <p:cNvPr id="340" name="Google Shape;340;p44"/>
          <p:cNvSpPr txBox="1">
            <a:spLocks noGrp="1"/>
          </p:cNvSpPr>
          <p:nvPr>
            <p:ph type="subTitle" idx="1"/>
          </p:nvPr>
        </p:nvSpPr>
        <p:spPr>
          <a:xfrm>
            <a:off x="713224" y="2622925"/>
            <a:ext cx="4239775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Pembahasan berkenaan aspek operasionalisasi parameter</a:t>
            </a:r>
            <a:endParaRPr dirty="0"/>
          </a:p>
        </p:txBody>
      </p:sp>
      <p:sp>
        <p:nvSpPr>
          <p:cNvPr id="341" name="Google Shape;341;p44"/>
          <p:cNvSpPr txBox="1"/>
          <p:nvPr/>
        </p:nvSpPr>
        <p:spPr>
          <a:xfrm>
            <a:off x="734824" y="367750"/>
            <a:ext cx="2313175" cy="3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Ilmu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Pemerintahan</a:t>
            </a: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Fakultas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Ilmu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Sosial dan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Ilmu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Politik</a:t>
            </a: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Universitas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Langlangbuana</a:t>
            </a: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>
            <a:spLocks noGrp="1"/>
          </p:cNvSpPr>
          <p:nvPr>
            <p:ph type="title"/>
          </p:nvPr>
        </p:nvSpPr>
        <p:spPr>
          <a:xfrm>
            <a:off x="720025" y="3155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Komunikasi/</a:t>
            </a:r>
            <a:r>
              <a:rPr lang="id-ID" dirty="0" err="1"/>
              <a:t>Communication</a:t>
            </a:r>
            <a:endParaRPr dirty="0"/>
          </a:p>
        </p:txBody>
      </p:sp>
      <p:sp>
        <p:nvSpPr>
          <p:cNvPr id="323" name="Google Shape;323;p43"/>
          <p:cNvSpPr txBox="1">
            <a:spLocks noGrp="1"/>
          </p:cNvSpPr>
          <p:nvPr>
            <p:ph type="subTitle" idx="1"/>
          </p:nvPr>
        </p:nvSpPr>
        <p:spPr>
          <a:xfrm>
            <a:off x="794411" y="2601465"/>
            <a:ext cx="3729964" cy="101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Petugas </a:t>
            </a:r>
            <a:r>
              <a:rPr lang="id-ID" dirty="0" err="1"/>
              <a:t>lapas</a:t>
            </a:r>
            <a:r>
              <a:rPr lang="id-ID" dirty="0"/>
              <a:t> kelas IIA </a:t>
            </a:r>
            <a:r>
              <a:rPr lang="id-ID" dirty="0" err="1"/>
              <a:t>Banceuy</a:t>
            </a:r>
            <a:r>
              <a:rPr lang="id-ID" dirty="0"/>
              <a:t>  menyampaikan Informasi mengenai kebijakan program integrasi pembebasan bersyarat kepada narapidana secara jelas.</a:t>
            </a:r>
            <a:endParaRPr dirty="0"/>
          </a:p>
        </p:txBody>
      </p:sp>
      <p:sp>
        <p:nvSpPr>
          <p:cNvPr id="325" name="Google Shape;325;p43"/>
          <p:cNvSpPr txBox="1">
            <a:spLocks noGrp="1"/>
          </p:cNvSpPr>
          <p:nvPr>
            <p:ph type="subTitle" idx="3"/>
          </p:nvPr>
        </p:nvSpPr>
        <p:spPr>
          <a:xfrm>
            <a:off x="4876237" y="2571750"/>
            <a:ext cx="4125801" cy="1013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Penyampaian informasi kebijakan program bebas bersyarat oleh petugas kepada narapidana disajikan dengan bahasa yang sederhana dan mudah dipahami terkait syarat hingga prosedur pengajuan program pembebasan bersyarat</a:t>
            </a:r>
            <a:endParaRPr dirty="0"/>
          </a:p>
        </p:txBody>
      </p:sp>
      <p:sp>
        <p:nvSpPr>
          <p:cNvPr id="327" name="Google Shape;327;p43"/>
          <p:cNvSpPr txBox="1">
            <a:spLocks noGrp="1"/>
          </p:cNvSpPr>
          <p:nvPr>
            <p:ph type="subTitle" idx="7"/>
          </p:nvPr>
        </p:nvSpPr>
        <p:spPr>
          <a:xfrm>
            <a:off x="794411" y="1901897"/>
            <a:ext cx="3777589" cy="6698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Penyampaian informasi secara komprehensif</a:t>
            </a:r>
            <a:endParaRPr dirty="0"/>
          </a:p>
        </p:txBody>
      </p:sp>
      <p:sp>
        <p:nvSpPr>
          <p:cNvPr id="332" name="Google Shape;332;p43"/>
          <p:cNvSpPr txBox="1">
            <a:spLocks noGrp="1"/>
          </p:cNvSpPr>
          <p:nvPr>
            <p:ph type="subTitle" idx="13"/>
          </p:nvPr>
        </p:nvSpPr>
        <p:spPr>
          <a:xfrm>
            <a:off x="4876237" y="1854718"/>
            <a:ext cx="4474275" cy="6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Komunikasi yang Interaktif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subTitle" idx="4"/>
          </p:nvPr>
        </p:nvSpPr>
        <p:spPr>
          <a:xfrm>
            <a:off x="4290902" y="2022981"/>
            <a:ext cx="3596899" cy="7392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Kesesuaian  Pelayanan dengan Aspirasi Narapidana </a:t>
            </a:r>
            <a:endParaRPr dirty="0"/>
          </a:p>
        </p:txBody>
      </p:sp>
      <p:sp>
        <p:nvSpPr>
          <p:cNvPr id="265" name="Google Shape;26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Sumber daya</a:t>
            </a:r>
            <a:endParaRPr dirty="0"/>
          </a:p>
        </p:txBody>
      </p:sp>
      <p:sp>
        <p:nvSpPr>
          <p:cNvPr id="266" name="Google Shape;266;p37"/>
          <p:cNvSpPr txBox="1">
            <a:spLocks noGrp="1"/>
          </p:cNvSpPr>
          <p:nvPr>
            <p:ph type="subTitle" idx="1"/>
          </p:nvPr>
        </p:nvSpPr>
        <p:spPr>
          <a:xfrm>
            <a:off x="4304105" y="2762249"/>
            <a:ext cx="3411146" cy="17553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Narapidana berharap agar petugas </a:t>
            </a:r>
            <a:r>
              <a:rPr lang="id-ID" dirty="0" err="1"/>
              <a:t>Lapas</a:t>
            </a:r>
            <a:r>
              <a:rPr lang="id-ID" dirty="0"/>
              <a:t> Kelas IIA </a:t>
            </a:r>
            <a:r>
              <a:rPr lang="id-ID" dirty="0" err="1"/>
              <a:t>Banceuy</a:t>
            </a:r>
            <a:r>
              <a:rPr lang="id-ID" dirty="0"/>
              <a:t> Bandung dapat memberikan bimbingan terkait keahlian seperti tata boga, kemandirian kerohanian, serta pelayanan kesehatan dan makanan secara terpadu</a:t>
            </a:r>
            <a:endParaRPr dirty="0"/>
          </a:p>
        </p:txBody>
      </p:sp>
      <p:sp>
        <p:nvSpPr>
          <p:cNvPr id="267" name="Google Shape;267;p37"/>
          <p:cNvSpPr txBox="1">
            <a:spLocks noGrp="1"/>
          </p:cNvSpPr>
          <p:nvPr>
            <p:ph type="subTitle" idx="2"/>
          </p:nvPr>
        </p:nvSpPr>
        <p:spPr>
          <a:xfrm>
            <a:off x="766227" y="2762250"/>
            <a:ext cx="3028889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Masih perlu diupayakan penambahan personil sumber daya manusia untuk meningkatkan segi pelayanan yang dapat menjangkau kapasitas hunian di </a:t>
            </a:r>
            <a:r>
              <a:rPr lang="id-ID" dirty="0" err="1"/>
              <a:t>lapas</a:t>
            </a:r>
            <a:r>
              <a:rPr lang="id-ID" dirty="0"/>
              <a:t>, baik kepada narapidana maupun masyarakat</a:t>
            </a:r>
            <a:endParaRPr dirty="0"/>
          </a:p>
        </p:txBody>
      </p:sp>
      <p:sp>
        <p:nvSpPr>
          <p:cNvPr id="268" name="Google Shape;268;p37"/>
          <p:cNvSpPr txBox="1">
            <a:spLocks noGrp="1"/>
          </p:cNvSpPr>
          <p:nvPr>
            <p:ph type="subTitle" idx="3"/>
          </p:nvPr>
        </p:nvSpPr>
        <p:spPr>
          <a:xfrm>
            <a:off x="720000" y="1924650"/>
            <a:ext cx="3075116" cy="7392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Kapasitas SDM memadai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subTitle" idx="4"/>
          </p:nvPr>
        </p:nvSpPr>
        <p:spPr>
          <a:xfrm>
            <a:off x="4299411" y="2123225"/>
            <a:ext cx="3995061" cy="737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Membentuk Kemandirian Narapidana </a:t>
            </a:r>
            <a:endParaRPr dirty="0"/>
          </a:p>
        </p:txBody>
      </p:sp>
      <p:sp>
        <p:nvSpPr>
          <p:cNvPr id="265" name="Google Shape;26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Disposisi</a:t>
            </a:r>
            <a:endParaRPr dirty="0"/>
          </a:p>
        </p:txBody>
      </p:sp>
      <p:sp>
        <p:nvSpPr>
          <p:cNvPr id="266" name="Google Shape;266;p37"/>
          <p:cNvSpPr txBox="1">
            <a:spLocks noGrp="1"/>
          </p:cNvSpPr>
          <p:nvPr>
            <p:ph type="subTitle" idx="1"/>
          </p:nvPr>
        </p:nvSpPr>
        <p:spPr>
          <a:xfrm>
            <a:off x="4299413" y="2860575"/>
            <a:ext cx="3817431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Komitmen dan tanggung jawab yang diberikan petugas mendorong narapidana menjadi manusia yang produktif dengan membekali keahlian menjahit, memasak, olahraga dan beribadah.</a:t>
            </a:r>
            <a:endParaRPr dirty="0"/>
          </a:p>
        </p:txBody>
      </p:sp>
      <p:sp>
        <p:nvSpPr>
          <p:cNvPr id="267" name="Google Shape;267;p37"/>
          <p:cNvSpPr txBox="1">
            <a:spLocks noGrp="1"/>
          </p:cNvSpPr>
          <p:nvPr>
            <p:ph type="subTitle" idx="2"/>
          </p:nvPr>
        </p:nvSpPr>
        <p:spPr>
          <a:xfrm>
            <a:off x="720000" y="2860575"/>
            <a:ext cx="2970634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Petugas pelaksana di </a:t>
            </a:r>
            <a:r>
              <a:rPr lang="id-ID" dirty="0" err="1"/>
              <a:t>Lapas</a:t>
            </a:r>
            <a:r>
              <a:rPr lang="id-ID" dirty="0"/>
              <a:t> Kelas IIA </a:t>
            </a:r>
            <a:r>
              <a:rPr lang="id-ID" dirty="0" err="1"/>
              <a:t>Banceuy</a:t>
            </a:r>
            <a:r>
              <a:rPr lang="id-ID" dirty="0"/>
              <a:t> berkomitmen melaksanakan kebijakan untuk mengayomi narapidana selama masa hukuman dari segi keamanan dan pengawasan serta memenuhi hak-hak lainnya.</a:t>
            </a:r>
            <a:endParaRPr dirty="0"/>
          </a:p>
        </p:txBody>
      </p:sp>
      <p:sp>
        <p:nvSpPr>
          <p:cNvPr id="268" name="Google Shape;268;p37"/>
          <p:cNvSpPr txBox="1">
            <a:spLocks noGrp="1"/>
          </p:cNvSpPr>
          <p:nvPr>
            <p:ph type="subTitle" idx="3"/>
          </p:nvPr>
        </p:nvSpPr>
        <p:spPr>
          <a:xfrm>
            <a:off x="713225" y="2002732"/>
            <a:ext cx="3094189" cy="8578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Pelaksanaan Tanggung Jawab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304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5;p37">
            <a:extLst>
              <a:ext uri="{FF2B5EF4-FFF2-40B4-BE49-F238E27FC236}">
                <a16:creationId xmlns:a16="http://schemas.microsoft.com/office/drawing/2014/main" id="{013C287F-132D-9BD8-7003-9B6263765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 Medium"/>
              <a:buNone/>
              <a:defRPr sz="28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id-ID" dirty="0"/>
              <a:t>Struktur Birokrasi </a:t>
            </a:r>
          </a:p>
        </p:txBody>
      </p:sp>
      <p:sp>
        <p:nvSpPr>
          <p:cNvPr id="10" name="Google Shape;268;p37">
            <a:extLst>
              <a:ext uri="{FF2B5EF4-FFF2-40B4-BE49-F238E27FC236}">
                <a16:creationId xmlns:a16="http://schemas.microsoft.com/office/drawing/2014/main" id="{EFAE499F-67C4-E8B9-865D-D64E7C9BC466}"/>
              </a:ext>
            </a:extLst>
          </p:cNvPr>
          <p:cNvSpPr txBox="1">
            <a:spLocks/>
          </p:cNvSpPr>
          <p:nvPr/>
        </p:nvSpPr>
        <p:spPr>
          <a:xfrm>
            <a:off x="713225" y="2002732"/>
            <a:ext cx="3094189" cy="85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d-ID" dirty="0"/>
              <a:t>Koordinasi dan Pembagian Tugas</a:t>
            </a:r>
          </a:p>
        </p:txBody>
      </p:sp>
      <p:sp>
        <p:nvSpPr>
          <p:cNvPr id="12" name="Google Shape;267;p37">
            <a:extLst>
              <a:ext uri="{FF2B5EF4-FFF2-40B4-BE49-F238E27FC236}">
                <a16:creationId xmlns:a16="http://schemas.microsoft.com/office/drawing/2014/main" id="{7E1EBE10-20DB-14ED-D1BA-B8C6B1B04538}"/>
              </a:ext>
            </a:extLst>
          </p:cNvPr>
          <p:cNvSpPr txBox="1">
            <a:spLocks/>
          </p:cNvSpPr>
          <p:nvPr/>
        </p:nvSpPr>
        <p:spPr>
          <a:xfrm>
            <a:off x="720000" y="2860575"/>
            <a:ext cx="2970634" cy="16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id-ID" dirty="0"/>
              <a:t>Umumnya, pelaksanaan program integrasi bebas bersyarat yang dijalankan petugas </a:t>
            </a:r>
            <a:r>
              <a:rPr lang="id-ID" dirty="0" err="1"/>
              <a:t>lapas</a:t>
            </a:r>
            <a:r>
              <a:rPr lang="id-ID" dirty="0"/>
              <a:t> telah sesuai aturan, namun terkendala pelanggaran administrasi oleh narapidana akibat data yang kurang lengkap untuk memenuhi persyaratan program tersebut.</a:t>
            </a:r>
          </a:p>
        </p:txBody>
      </p:sp>
      <p:sp>
        <p:nvSpPr>
          <p:cNvPr id="14" name="Google Shape;264;p37">
            <a:extLst>
              <a:ext uri="{FF2B5EF4-FFF2-40B4-BE49-F238E27FC236}">
                <a16:creationId xmlns:a16="http://schemas.microsoft.com/office/drawing/2014/main" id="{04382C02-28EB-2917-EB5A-1FFA532FCBDA}"/>
              </a:ext>
            </a:extLst>
          </p:cNvPr>
          <p:cNvSpPr txBox="1">
            <a:spLocks/>
          </p:cNvSpPr>
          <p:nvPr/>
        </p:nvSpPr>
        <p:spPr>
          <a:xfrm>
            <a:off x="4299411" y="2123225"/>
            <a:ext cx="3995061" cy="73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d-ID" dirty="0"/>
              <a:t>Maksimalnya Program Pembinaan</a:t>
            </a:r>
          </a:p>
        </p:txBody>
      </p:sp>
      <p:sp>
        <p:nvSpPr>
          <p:cNvPr id="16" name="Google Shape;266;p37">
            <a:extLst>
              <a:ext uri="{FF2B5EF4-FFF2-40B4-BE49-F238E27FC236}">
                <a16:creationId xmlns:a16="http://schemas.microsoft.com/office/drawing/2014/main" id="{0F330B34-452C-CC7B-BDBE-FF410C2D05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99413" y="2860575"/>
            <a:ext cx="3817431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Program integrasi bebas bersyarat mewajibkan narapidana untuk mengikuti seluruh rangkaian pelatihan keterampilan yang diberikan oleh </a:t>
            </a:r>
            <a:r>
              <a:rPr lang="id-ID" dirty="0" err="1"/>
              <a:t>Lapas</a:t>
            </a:r>
            <a:r>
              <a:rPr lang="id-ID" dirty="0"/>
              <a:t> kelas IIA </a:t>
            </a:r>
            <a:r>
              <a:rPr lang="id-ID" dirty="0" err="1"/>
              <a:t>Banceuy</a:t>
            </a:r>
            <a:r>
              <a:rPr lang="id-ID" dirty="0"/>
              <a:t> Bandung agar memperoleh surat keputusan bebas bersyarat serta melaporkannya kepada balai pemasyarakatan.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2953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subTitle" idx="4"/>
          </p:nvPr>
        </p:nvSpPr>
        <p:spPr>
          <a:xfrm>
            <a:off x="4299414" y="732875"/>
            <a:ext cx="26958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Penghambat</a:t>
            </a:r>
            <a:endParaRPr dirty="0"/>
          </a:p>
        </p:txBody>
      </p:sp>
      <p:sp>
        <p:nvSpPr>
          <p:cNvPr id="265" name="Google Shape;26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Kesimpulan</a:t>
            </a:r>
            <a:endParaRPr dirty="0"/>
          </a:p>
        </p:txBody>
      </p:sp>
      <p:sp>
        <p:nvSpPr>
          <p:cNvPr id="266" name="Google Shape;266;p37"/>
          <p:cNvSpPr txBox="1">
            <a:spLocks noGrp="1"/>
          </p:cNvSpPr>
          <p:nvPr>
            <p:ph type="subTitle" idx="1"/>
          </p:nvPr>
        </p:nvSpPr>
        <p:spPr>
          <a:xfrm>
            <a:off x="4299414" y="1615975"/>
            <a:ext cx="4124586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id-ID" dirty="0"/>
              <a:t>Belum terpenuhinya pelayanan yang diberikan oleh petugas </a:t>
            </a:r>
            <a:r>
              <a:rPr lang="id-ID" dirty="0" err="1"/>
              <a:t>lapas</a:t>
            </a:r>
            <a:r>
              <a:rPr lang="id-ID" dirty="0"/>
              <a:t> kelas IIA </a:t>
            </a:r>
            <a:r>
              <a:rPr lang="id-ID" dirty="0" err="1"/>
              <a:t>Banceuy</a:t>
            </a:r>
            <a:r>
              <a:rPr lang="id-ID" dirty="0"/>
              <a:t> kepada narapidana dari segi kesehatan, kemandirian, dan keterampilan. Selain itu, pelaksanaan pengajuan bebas bersyarat masih terjadi pelanggaran aturan yang dilakukan narapidana.
Kendala administrasi dalam pelaksanaan program bebas bersyarat disebabkan oleh </a:t>
            </a:r>
            <a:r>
              <a:rPr lang="id-ID" dirty="0" err="1"/>
              <a:t>ketidakpedulian</a:t>
            </a:r>
            <a:r>
              <a:rPr lang="id-ID" dirty="0"/>
              <a:t> keluarga narapidana terhadap pengurusan syarat-syarat yang telah ditentukan
Stigma negatif dari masyarakat terhadap narapidana yang bebas bersyarat menyebabkan mereka sulit bersosialisasi, yang terkadang mengarah pada pelanggaran hukum kembali setelah keluar dari </a:t>
            </a:r>
            <a:r>
              <a:rPr lang="id-ID" dirty="0" err="1"/>
              <a:t>lapas</a:t>
            </a:r>
            <a:r>
              <a:rPr lang="id-ID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id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267" name="Google Shape;267;p37"/>
          <p:cNvSpPr txBox="1">
            <a:spLocks noGrp="1"/>
          </p:cNvSpPr>
          <p:nvPr>
            <p:ph type="subTitle" idx="2"/>
          </p:nvPr>
        </p:nvSpPr>
        <p:spPr>
          <a:xfrm>
            <a:off x="720000" y="1943212"/>
            <a:ext cx="3053466" cy="1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id-ID" dirty="0"/>
              <a:t>Sumber daya personil petugas yang memadai telah tercukupi
Kesesuaian antara kemampuan dan keahlian petugas </a:t>
            </a:r>
            <a:r>
              <a:rPr lang="id-ID" dirty="0" err="1"/>
              <a:t>lapas</a:t>
            </a:r>
            <a:r>
              <a:rPr lang="id-ID" dirty="0"/>
              <a:t> kelas IIA </a:t>
            </a:r>
            <a:r>
              <a:rPr lang="id-ID" dirty="0" err="1"/>
              <a:t>Banceuy</a:t>
            </a:r>
            <a:r>
              <a:rPr lang="id-ID" dirty="0"/>
              <a:t> dengan tugas dan fungsi pekerjaan di setiap unit seksi tugas.
Kolaborasi antara institusi petugas </a:t>
            </a:r>
            <a:r>
              <a:rPr lang="id-ID" dirty="0" err="1"/>
              <a:t>lapas</a:t>
            </a:r>
            <a:r>
              <a:rPr lang="id-ID" dirty="0"/>
              <a:t> kelas IIA </a:t>
            </a:r>
            <a:r>
              <a:rPr lang="id-ID" dirty="0" err="1"/>
              <a:t>Banceuy</a:t>
            </a:r>
            <a:r>
              <a:rPr lang="id-ID" dirty="0"/>
              <a:t> dengan balai pemasyarakatan dalam mengimplementasikan kebijakan program integrasi bebas bersyarat narapidana berjalan sesuai aturan yang berlaku.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id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dirty="0"/>
          </a:p>
        </p:txBody>
      </p:sp>
      <p:sp>
        <p:nvSpPr>
          <p:cNvPr id="268" name="Google Shape;268;p37"/>
          <p:cNvSpPr txBox="1">
            <a:spLocks noGrp="1"/>
          </p:cNvSpPr>
          <p:nvPr>
            <p:ph type="subTitle" idx="3"/>
          </p:nvPr>
        </p:nvSpPr>
        <p:spPr>
          <a:xfrm>
            <a:off x="720000" y="1197175"/>
            <a:ext cx="26958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Faktor Pendukung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249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9"/>
          <p:cNvSpPr txBox="1">
            <a:spLocks noGrp="1"/>
          </p:cNvSpPr>
          <p:nvPr>
            <p:ph type="title"/>
          </p:nvPr>
        </p:nvSpPr>
        <p:spPr>
          <a:xfrm>
            <a:off x="734825" y="2908025"/>
            <a:ext cx="3441548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TERIMAKASIH</a:t>
            </a:r>
            <a:endParaRPr dirty="0"/>
          </a:p>
        </p:txBody>
      </p:sp>
      <p:sp>
        <p:nvSpPr>
          <p:cNvPr id="425" name="Google Shape;425;p49"/>
          <p:cNvSpPr txBox="1"/>
          <p:nvPr/>
        </p:nvSpPr>
        <p:spPr>
          <a:xfrm>
            <a:off x="844799" y="3633424"/>
            <a:ext cx="2939801" cy="30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Seluruh masukan dan saran sangat diperlukan oleh peneliti untuk skripsi yang lebih baik</a:t>
            </a:r>
            <a:endParaRPr sz="1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6" name="Google Shape;426;p49"/>
          <p:cNvSpPr txBox="1"/>
          <p:nvPr/>
        </p:nvSpPr>
        <p:spPr>
          <a:xfrm>
            <a:off x="734824" y="367750"/>
            <a:ext cx="2236975" cy="31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Ilmu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Pemerintahan</a:t>
            </a: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Fakultas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Ilmu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Sosial dan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Ilmu</a:t>
            </a: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Politik</a:t>
            </a: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Universitas </a:t>
            </a:r>
            <a:r>
              <a:rPr lang="en-ID" sz="1000" dirty="0" err="1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Langlangbuana</a:t>
            </a: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61646-8A5F-461A-9D1A-D122C97CDAFD}"/>
              </a:ext>
            </a:extLst>
          </p:cNvPr>
          <p:cNvSpPr/>
          <p:nvPr/>
        </p:nvSpPr>
        <p:spPr>
          <a:xfrm>
            <a:off x="4064000" y="3633425"/>
            <a:ext cx="4254000" cy="725400"/>
          </a:xfrm>
          <a:prstGeom prst="rect">
            <a:avLst/>
          </a:prstGeom>
          <a:solidFill>
            <a:srgbClr val="F7F4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l and Professional Portfolio by Slidesgo">
  <a:themeElements>
    <a:clrScheme name="Simple Light">
      <a:dk1>
        <a:srgbClr val="333333"/>
      </a:dk1>
      <a:lt1>
        <a:srgbClr val="F7F4F1"/>
      </a:lt1>
      <a:dk2>
        <a:srgbClr val="444444"/>
      </a:dk2>
      <a:lt2>
        <a:srgbClr val="555555"/>
      </a:lt2>
      <a:accent1>
        <a:srgbClr val="66666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918</Words>
  <Application>Microsoft Office PowerPoint</Application>
  <PresentationFormat>Peragaan Layar (16:9)</PresentationFormat>
  <Paragraphs>115</Paragraphs>
  <Slides>13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Judul Slide</vt:lpstr>
      </vt:variant>
      <vt:variant>
        <vt:i4>13</vt:i4>
      </vt:variant>
    </vt:vector>
  </HeadingPairs>
  <TitlesOfParts>
    <vt:vector size="14" baseType="lpstr">
      <vt:lpstr>Formal and Professional Portfolio by Slidesgo</vt:lpstr>
      <vt:lpstr>Implementasi Kebijakan Program  Integrasi Pembebasan Bersyarat di Lembaga Pemasyarakatan Kelas IIA Banceuy Bandung</vt:lpstr>
      <vt:lpstr>Pemaparan</vt:lpstr>
      <vt:lpstr>Latar Belakang</vt:lpstr>
      <vt:lpstr>Teori Implementasi Kebijakan oleh C Edward III dalam Widodo ( 2010: 96-104)</vt:lpstr>
      <vt:lpstr>Kerangka Pemikiran dan Batasan Konsep</vt:lpstr>
      <vt:lpstr>Metode Penelitian</vt:lpstr>
      <vt:lpstr>Hasil Penelitian</vt:lpstr>
      <vt:lpstr>Komunikasi/Communication</vt:lpstr>
      <vt:lpstr>Sumber daya</vt:lpstr>
      <vt:lpstr>Disposisi</vt:lpstr>
      <vt:lpstr>Struktur Birokrasi </vt:lpstr>
      <vt:lpstr>Kesimpulan</vt:lpstr>
      <vt:lpstr>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Proses Politik Pembentukan Peraturan Desa  (Studi Kasus pada Pembentukan Peraturan Desa Nomor 5 Tahun 2022 tentang Penyelenggaraan Penanggulangan Bencana di Desa Majalaya Kabupaten Bandung)</dc:title>
  <dc:creator>Asus</dc:creator>
  <cp:lastModifiedBy>6281359530562</cp:lastModifiedBy>
  <cp:revision>15</cp:revision>
  <dcterms:modified xsi:type="dcterms:W3CDTF">2024-10-17T07:15:55Z</dcterms:modified>
</cp:coreProperties>
</file>